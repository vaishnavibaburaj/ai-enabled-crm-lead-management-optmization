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6831A3-67A9-4BC3-9A32-C616D9EC8CB1}" v="1" dt="2026-02-25T14:38:44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K B" userId="f16955a917739ebf" providerId="LiveId" clId="{B714ABF1-9969-47C9-B797-07B008D49D19}"/>
    <pc:docChg chg="custSel modSld">
      <pc:chgData name="VAISHNAVI K B" userId="f16955a917739ebf" providerId="LiveId" clId="{B714ABF1-9969-47C9-B797-07B008D49D19}" dt="2026-02-25T15:04:19.175" v="674" actId="20577"/>
      <pc:docMkLst>
        <pc:docMk/>
      </pc:docMkLst>
      <pc:sldChg chg="modSp mod">
        <pc:chgData name="VAISHNAVI K B" userId="f16955a917739ebf" providerId="LiveId" clId="{B714ABF1-9969-47C9-B797-07B008D49D19}" dt="2026-02-25T15:04:19.175" v="674" actId="20577"/>
        <pc:sldMkLst>
          <pc:docMk/>
          <pc:sldMk cId="1454081955" sldId="256"/>
        </pc:sldMkLst>
        <pc:spChg chg="mod">
          <ac:chgData name="VAISHNAVI K B" userId="f16955a917739ebf" providerId="LiveId" clId="{B714ABF1-9969-47C9-B797-07B008D49D19}" dt="2026-02-25T14:39:56.412" v="150" actId="122"/>
          <ac:spMkLst>
            <pc:docMk/>
            <pc:sldMk cId="1454081955" sldId="256"/>
            <ac:spMk id="2" creationId="{0D3AD476-659E-2F76-F59F-7A7F1A917106}"/>
          </ac:spMkLst>
        </pc:spChg>
        <pc:spChg chg="mod">
          <ac:chgData name="VAISHNAVI K B" userId="f16955a917739ebf" providerId="LiveId" clId="{B714ABF1-9969-47C9-B797-07B008D49D19}" dt="2026-02-25T15:04:19.175" v="674" actId="20577"/>
          <ac:spMkLst>
            <pc:docMk/>
            <pc:sldMk cId="1454081955" sldId="256"/>
            <ac:spMk id="3" creationId="{9C888AEE-D221-9A15-90A5-49018FE0783B}"/>
          </ac:spMkLst>
        </pc:spChg>
      </pc:sldChg>
      <pc:sldChg chg="modSp mod">
        <pc:chgData name="VAISHNAVI K B" userId="f16955a917739ebf" providerId="LiveId" clId="{B714ABF1-9969-47C9-B797-07B008D49D19}" dt="2026-02-25T15:01:28.877" v="614" actId="20577"/>
        <pc:sldMkLst>
          <pc:docMk/>
          <pc:sldMk cId="3340706582" sldId="257"/>
        </pc:sldMkLst>
        <pc:spChg chg="mod">
          <ac:chgData name="VAISHNAVI K B" userId="f16955a917739ebf" providerId="LiveId" clId="{B714ABF1-9969-47C9-B797-07B008D49D19}" dt="2026-02-25T15:01:28.877" v="614" actId="20577"/>
          <ac:spMkLst>
            <pc:docMk/>
            <pc:sldMk cId="3340706582" sldId="257"/>
            <ac:spMk id="3" creationId="{849332EB-746F-5707-43E8-A970A5727E2A}"/>
          </ac:spMkLst>
        </pc:spChg>
      </pc:sldChg>
      <pc:sldChg chg="modSp mod">
        <pc:chgData name="VAISHNAVI K B" userId="f16955a917739ebf" providerId="LiveId" clId="{B714ABF1-9969-47C9-B797-07B008D49D19}" dt="2026-02-25T15:00:52.518" v="540" actId="20577"/>
        <pc:sldMkLst>
          <pc:docMk/>
          <pc:sldMk cId="738723095" sldId="258"/>
        </pc:sldMkLst>
        <pc:spChg chg="mod">
          <ac:chgData name="VAISHNAVI K B" userId="f16955a917739ebf" providerId="LiveId" clId="{B714ABF1-9969-47C9-B797-07B008D49D19}" dt="2026-02-25T15:00:52.518" v="540" actId="20577"/>
          <ac:spMkLst>
            <pc:docMk/>
            <pc:sldMk cId="738723095" sldId="258"/>
            <ac:spMk id="3" creationId="{8170E8E7-77B1-56EE-9AC0-A2B8E2CBBD56}"/>
          </ac:spMkLst>
        </pc:spChg>
      </pc:sldChg>
      <pc:sldChg chg="modSp mod">
        <pc:chgData name="VAISHNAVI K B" userId="f16955a917739ebf" providerId="LiveId" clId="{B714ABF1-9969-47C9-B797-07B008D49D19}" dt="2026-02-25T15:00:02.739" v="438" actId="20577"/>
        <pc:sldMkLst>
          <pc:docMk/>
          <pc:sldMk cId="2626257092" sldId="259"/>
        </pc:sldMkLst>
        <pc:spChg chg="mod">
          <ac:chgData name="VAISHNAVI K B" userId="f16955a917739ebf" providerId="LiveId" clId="{B714ABF1-9969-47C9-B797-07B008D49D19}" dt="2026-02-25T15:00:02.739" v="438" actId="20577"/>
          <ac:spMkLst>
            <pc:docMk/>
            <pc:sldMk cId="2626257092" sldId="259"/>
            <ac:spMk id="3" creationId="{29347B06-0DDB-CE90-A42D-62516ED01C4B}"/>
          </ac:spMkLst>
        </pc:spChg>
      </pc:sldChg>
      <pc:sldChg chg="modSp mod">
        <pc:chgData name="VAISHNAVI K B" userId="f16955a917739ebf" providerId="LiveId" clId="{B714ABF1-9969-47C9-B797-07B008D49D19}" dt="2026-02-25T14:59:18.564" v="324" actId="20577"/>
        <pc:sldMkLst>
          <pc:docMk/>
          <pc:sldMk cId="299609481" sldId="260"/>
        </pc:sldMkLst>
        <pc:spChg chg="mod">
          <ac:chgData name="VAISHNAVI K B" userId="f16955a917739ebf" providerId="LiveId" clId="{B714ABF1-9969-47C9-B797-07B008D49D19}" dt="2026-02-25T14:59:18.564" v="324" actId="20577"/>
          <ac:spMkLst>
            <pc:docMk/>
            <pc:sldMk cId="299609481" sldId="260"/>
            <ac:spMk id="3" creationId="{DC103AA2-AFBA-676F-4CA5-6DC64A02A18D}"/>
          </ac:spMkLst>
        </pc:spChg>
      </pc:sldChg>
      <pc:sldChg chg="modSp mod">
        <pc:chgData name="VAISHNAVI K B" userId="f16955a917739ebf" providerId="LiveId" clId="{B714ABF1-9969-47C9-B797-07B008D49D19}" dt="2026-02-25T15:02:43.069" v="648" actId="20577"/>
        <pc:sldMkLst>
          <pc:docMk/>
          <pc:sldMk cId="2713815448" sldId="261"/>
        </pc:sldMkLst>
        <pc:spChg chg="mod">
          <ac:chgData name="VAISHNAVI K B" userId="f16955a917739ebf" providerId="LiveId" clId="{B714ABF1-9969-47C9-B797-07B008D49D19}" dt="2026-02-25T15:02:43.069" v="648" actId="20577"/>
          <ac:spMkLst>
            <pc:docMk/>
            <pc:sldMk cId="2713815448" sldId="261"/>
            <ac:spMk id="3" creationId="{EBC1E54A-FAC2-6336-049A-840B779BA5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859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38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782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110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1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69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32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7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96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325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64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855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367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169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865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510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27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A57AEB0-05CF-4779-B7D4-30EC3CD0E32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43679-5E1B-4B4F-AFF5-201C38AD5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3403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D476-659E-2F76-F59F-7A7F1A917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098" y="1295400"/>
            <a:ext cx="8825658" cy="1762038"/>
          </a:xfrm>
        </p:spPr>
        <p:txBody>
          <a:bodyPr/>
          <a:lstStyle/>
          <a:p>
            <a:pPr algn="ctr"/>
            <a:r>
              <a:rPr lang="en-IN" sz="4800" b="1" dirty="0"/>
              <a:t>AI-ENABLED CRM LEAD MANAGEMENT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88AEE-D221-9A15-90A5-49018FE07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668486"/>
            <a:ext cx="8825658" cy="1970314"/>
          </a:xfrm>
        </p:spPr>
        <p:txBody>
          <a:bodyPr>
            <a:normAutofit lnSpcReduction="10000"/>
          </a:bodyPr>
          <a:lstStyle/>
          <a:p>
            <a:pPr algn="ctr"/>
            <a:r>
              <a:rPr lang="en-IN" sz="2400" b="1" dirty="0"/>
              <a:t>A structured approach to improving crm conversion using ai-enabled lead prioritization</a:t>
            </a:r>
          </a:p>
          <a:p>
            <a:pPr algn="ctr"/>
            <a:endParaRPr lang="en-IN" sz="2400" b="1" dirty="0"/>
          </a:p>
          <a:p>
            <a:pPr algn="ctr"/>
            <a:r>
              <a:rPr lang="en-IN" sz="1400" b="1" i="1" dirty="0"/>
              <a:t>BUSINESS ANALYSIS CASE STUDY</a:t>
            </a:r>
          </a:p>
          <a:p>
            <a:pPr algn="ctr"/>
            <a:r>
              <a:rPr lang="en-IN" sz="1400" b="1" dirty="0"/>
              <a:t>VAISHNAVI BABURAJ</a:t>
            </a:r>
          </a:p>
        </p:txBody>
      </p:sp>
    </p:spTree>
    <p:extLst>
      <p:ext uri="{BB962C8B-B14F-4D97-AF65-F5344CB8AC3E}">
        <p14:creationId xmlns:p14="http://schemas.microsoft.com/office/powerpoint/2010/main" val="1454081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11373-FB3A-57AA-455C-72A23879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332EB-746F-5707-43E8-A970A5727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/>
              <a:t>BUSINESS CHALLENGE</a:t>
            </a:r>
          </a:p>
          <a:p>
            <a:r>
              <a:rPr lang="en-IN" sz="2400" dirty="0"/>
              <a:t>Manual lead allocation process</a:t>
            </a:r>
          </a:p>
          <a:p>
            <a:r>
              <a:rPr lang="en-IN" sz="2400" dirty="0"/>
              <a:t>No structured prioritization mechanism</a:t>
            </a:r>
          </a:p>
          <a:p>
            <a:r>
              <a:rPr lang="en-IN" sz="2400" dirty="0"/>
              <a:t>Uneven agent performance</a:t>
            </a:r>
          </a:p>
          <a:p>
            <a:r>
              <a:rPr lang="en-IN" sz="2400" dirty="0"/>
              <a:t>Low overall conversion rate (33%)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Sales effort was not aligned with lead conversion potential, resulting in inefficient resource utilization.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706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6950-79C8-D275-383E-8FCE0C01D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AS-IS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0E8E7-77B1-56EE-9AC0-A2B8E2CBB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KEY INSIGHTS</a:t>
            </a:r>
          </a:p>
          <a:p>
            <a:r>
              <a:rPr lang="en-IN" sz="2400" dirty="0"/>
              <a:t>33.3% overall conversion</a:t>
            </a:r>
          </a:p>
          <a:p>
            <a:r>
              <a:rPr lang="en-IN" sz="2400" dirty="0"/>
              <a:t>33.3% leads lost</a:t>
            </a:r>
          </a:p>
          <a:p>
            <a:r>
              <a:rPr lang="en-IN" sz="2400" dirty="0"/>
              <a:t>Conversions were concentrated primarily in referral-generated leads</a:t>
            </a:r>
          </a:p>
          <a:p>
            <a:r>
              <a:rPr lang="en-IN" sz="2400" dirty="0"/>
              <a:t>Inconsistent performance across agents</a:t>
            </a:r>
          </a:p>
        </p:txBody>
      </p:sp>
    </p:spTree>
    <p:extLst>
      <p:ext uri="{BB962C8B-B14F-4D97-AF65-F5344CB8AC3E}">
        <p14:creationId xmlns:p14="http://schemas.microsoft.com/office/powerpoint/2010/main" val="738723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67D6-7536-D22D-85BE-A68EEA0BA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AI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47B06-0DDB-CE90-A42D-62516ED01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54630"/>
            <a:ext cx="8946541" cy="4593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AI-BASED LEAD PRIORITIZATION SIMULATION</a:t>
            </a:r>
          </a:p>
          <a:p>
            <a:r>
              <a:rPr lang="en-IN" sz="2400" dirty="0"/>
              <a:t>Leads scored using probability model (simulated)</a:t>
            </a:r>
          </a:p>
          <a:p>
            <a:r>
              <a:rPr lang="en-IN" sz="2400" dirty="0"/>
              <a:t>Threshold ≥ 45 selected for prioritization</a:t>
            </a:r>
          </a:p>
          <a:p>
            <a:r>
              <a:rPr lang="en-IN" sz="2400" dirty="0"/>
              <a:t>Leads segmented into:</a:t>
            </a:r>
          </a:p>
          <a:p>
            <a:pPr marL="514350" indent="-514350">
              <a:buFont typeface="+mj-lt"/>
              <a:buAutoNum type="alphaLcPeriod"/>
            </a:pPr>
            <a:r>
              <a:rPr lang="en-IN" sz="2400" dirty="0"/>
              <a:t>AI-Prioritized</a:t>
            </a:r>
          </a:p>
          <a:p>
            <a:pPr marL="514350" indent="-514350">
              <a:buFont typeface="+mj-lt"/>
              <a:buAutoNum type="alphaLcPeriod"/>
            </a:pPr>
            <a:r>
              <a:rPr lang="en-IN" sz="2400" dirty="0"/>
              <a:t>Non-Prioritized</a:t>
            </a:r>
          </a:p>
          <a:p>
            <a:r>
              <a:rPr lang="en-IN" sz="2400" dirty="0"/>
              <a:t>SQL Conditional Aggregation was used to simulate and compare conversion performance across segments. </a:t>
            </a:r>
          </a:p>
        </p:txBody>
      </p:sp>
    </p:spTree>
    <p:extLst>
      <p:ext uri="{BB962C8B-B14F-4D97-AF65-F5344CB8AC3E}">
        <p14:creationId xmlns:p14="http://schemas.microsoft.com/office/powerpoint/2010/main" val="2626257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1447-5055-D7D1-C9B9-33CEA6F4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AI IMPACT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03AA2-AFBA-676F-4CA5-6DC64A02A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Baseline Conversion: </a:t>
            </a:r>
            <a:r>
              <a:rPr lang="en-IN" sz="3600" b="1" dirty="0"/>
              <a:t>33.3 %</a:t>
            </a:r>
          </a:p>
          <a:p>
            <a:r>
              <a:rPr lang="en-IN" sz="3600" dirty="0"/>
              <a:t>AI Conversion: </a:t>
            </a:r>
            <a:r>
              <a:rPr lang="en-IN" sz="3600" b="1" dirty="0"/>
              <a:t>50%</a:t>
            </a:r>
          </a:p>
          <a:p>
            <a:r>
              <a:rPr lang="en-IN" sz="3600" dirty="0"/>
              <a:t>Absolute Improvement: </a:t>
            </a:r>
            <a:r>
              <a:rPr lang="en-IN" sz="3600" b="1" dirty="0"/>
              <a:t>+16.7 </a:t>
            </a:r>
            <a:r>
              <a:rPr lang="en-IN" sz="3600" dirty="0"/>
              <a:t>percentage points</a:t>
            </a:r>
          </a:p>
          <a:p>
            <a:r>
              <a:rPr lang="en-IN" sz="3600" dirty="0"/>
              <a:t>Relative Increase: </a:t>
            </a:r>
            <a:r>
              <a:rPr lang="en-IN" sz="3600" b="1" dirty="0"/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299609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2434E-297F-1F05-8688-08671868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VALUE &amp; STRATEGIC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1E54A-FAC2-6336-049A-840B779B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853248"/>
            <a:ext cx="10069286" cy="4395152"/>
          </a:xfrm>
        </p:spPr>
        <p:txBody>
          <a:bodyPr>
            <a:normAutofit fontScale="92500"/>
          </a:bodyPr>
          <a:lstStyle/>
          <a:p>
            <a:r>
              <a:rPr lang="en-IN" sz="2400" dirty="0"/>
              <a:t>Improved lead handling efficiency</a:t>
            </a:r>
          </a:p>
          <a:p>
            <a:r>
              <a:rPr lang="en-IN" sz="2400" dirty="0"/>
              <a:t>Better sales resource allocation</a:t>
            </a:r>
          </a:p>
          <a:p>
            <a:r>
              <a:rPr lang="en-IN" sz="2400" dirty="0"/>
              <a:t>Reduced opportunity loss</a:t>
            </a:r>
          </a:p>
          <a:p>
            <a:r>
              <a:rPr lang="en-IN" sz="2400" dirty="0"/>
              <a:t>Scalable prioritization framework</a:t>
            </a:r>
          </a:p>
          <a:p>
            <a:r>
              <a:rPr lang="en-IN" sz="2400" dirty="0"/>
              <a:t>Data-driven decision support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Demonstrates how AI-driven, data-backed prioritization can significantly enhance CRM performance and improve lead conversion outcomes. </a:t>
            </a:r>
          </a:p>
          <a:p>
            <a:pPr marL="0" indent="0">
              <a:buNone/>
            </a:pPr>
            <a:r>
              <a:rPr lang="en-IN" sz="2400" i="1" dirty="0"/>
              <a:t>This case study illustrates how structured data analysis and prioritization can directly translate into measurable business impact. </a:t>
            </a:r>
          </a:p>
        </p:txBody>
      </p:sp>
    </p:spTree>
    <p:extLst>
      <p:ext uri="{BB962C8B-B14F-4D97-AF65-F5344CB8AC3E}">
        <p14:creationId xmlns:p14="http://schemas.microsoft.com/office/powerpoint/2010/main" val="2713815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</TotalTime>
  <Words>207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Century Gothic</vt:lpstr>
      <vt:lpstr>Wingdings</vt:lpstr>
      <vt:lpstr>Wingdings 3</vt:lpstr>
      <vt:lpstr>Ion</vt:lpstr>
      <vt:lpstr>AI-ENABLED CRM LEAD MANAGEMENT OPTIMIZATION</vt:lpstr>
      <vt:lpstr>PROBLEM STATEMENT</vt:lpstr>
      <vt:lpstr>AS-IS PERFORMANCE ANALYSIS</vt:lpstr>
      <vt:lpstr>PROPOSED AI SOLUTION</vt:lpstr>
      <vt:lpstr>AI IMPACT RESULTS</vt:lpstr>
      <vt:lpstr>BUSINESS VALUE &amp; STRATEGIC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K B</dc:creator>
  <cp:lastModifiedBy>VAISHNAVI K B</cp:lastModifiedBy>
  <cp:revision>1</cp:revision>
  <dcterms:created xsi:type="dcterms:W3CDTF">2026-02-25T13:43:58Z</dcterms:created>
  <dcterms:modified xsi:type="dcterms:W3CDTF">2026-02-25T15:04:24Z</dcterms:modified>
</cp:coreProperties>
</file>